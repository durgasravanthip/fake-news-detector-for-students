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7"/>
  </p:notesMasterIdLst>
  <p:sldIdLst>
    <p:sldId id="256" r:id="rId5"/>
    <p:sldId id="2146847054" r:id="rId6"/>
    <p:sldId id="262" r:id="rId7"/>
    <p:sldId id="265" r:id="rId8"/>
    <p:sldId id="2146847059" r:id="rId9"/>
    <p:sldId id="266" r:id="rId10"/>
    <p:sldId id="2146847071" r:id="rId11"/>
    <p:sldId id="2146847057" r:id="rId12"/>
    <p:sldId id="2146847060" r:id="rId13"/>
    <p:sldId id="2146847061" r:id="rId14"/>
    <p:sldId id="2146847063" r:id="rId15"/>
    <p:sldId id="2146847064" r:id="rId16"/>
    <p:sldId id="2146847065" r:id="rId17"/>
    <p:sldId id="2146847058" r:id="rId18"/>
    <p:sldId id="267" r:id="rId19"/>
    <p:sldId id="2146847068" r:id="rId20"/>
    <p:sldId id="2146847069" r:id="rId21"/>
    <p:sldId id="2146847070" r:id="rId22"/>
    <p:sldId id="268" r:id="rId23"/>
    <p:sldId id="2146847067" r:id="rId24"/>
    <p:sldId id="269" r:id="rId25"/>
    <p:sldId id="21468470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2446A2-F213-4F6F-8F5B-453C20B96547}" v="8" dt="2025-08-01T13:13:49.607"/>
    <p1510:client id="{716DC8C6-8643-46D4-8067-C56986BD2C8A}" v="56" dt="2025-08-01T11:02:25.245"/>
    <p1510:client id="{85FCD524-0F19-4E63-AD2E-E0BC8BB7CD39}" v="1177" dt="2025-07-31T15:30:36.7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>
        <p:scale>
          <a:sx n="40" d="100"/>
          <a:sy n="40" d="100"/>
        </p:scale>
        <p:origin x="40" y="4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16-01-2026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1/16/2026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1/16/2026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makshi-08/EcoCar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ltk.org/" TargetMode="External"/><Relationship Id="rId2" Type="http://schemas.openxmlformats.org/officeDocument/2006/relationships/hyperlink" Target="https://scikit-learn.org/stabl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python.org/3/" TargetMode="External"/><Relationship Id="rId5" Type="http://schemas.openxmlformats.org/officeDocument/2006/relationships/hyperlink" Target="https://www.kaggle.com/" TargetMode="External"/><Relationship Id="rId4" Type="http://schemas.openxmlformats.org/officeDocument/2006/relationships/hyperlink" Target="https://docs.streamlit.io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2117968"/>
            <a:ext cx="9757833" cy="681445"/>
          </a:xfrm>
        </p:spPr>
        <p:txBody>
          <a:bodyPr>
            <a:normAutofit/>
          </a:bodyPr>
          <a:lstStyle/>
          <a:p>
            <a:pPr algn="ctr"/>
            <a:r>
              <a:rPr lang="en-US" sz="2200" b="1" dirty="0">
                <a:solidFill>
                  <a:schemeClr val="accent1"/>
                </a:solidFill>
                <a:ea typeface="+mj-lt"/>
                <a:cs typeface="+mj-lt"/>
              </a:rPr>
              <a:t>Fake news detector for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76464" y="1034321"/>
            <a:ext cx="12573329" cy="8925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  <a:p>
            <a:pPr algn="ctr"/>
            <a:r>
              <a:rPr lang="en-US" sz="2000" i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(Submitted in partial fulfillment of the Summer Internship on Artificial Intelligence &amp; Machine Learning, 2026)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39779" y="4364115"/>
            <a:ext cx="5403168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Presented By: Durga Sravanthi Peddoju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Franklin Gothic Book"/>
                <a:cs typeface="Arial"/>
              </a:rPr>
              <a:t>                               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Franklin Gothic Book"/>
                <a:cs typeface="Arial"/>
              </a:rPr>
              <a:t>Department : CSE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                          SRM University,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ea typeface="+mn-lt"/>
                <a:cs typeface="Arial"/>
              </a:rPr>
              <a:t>AP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9"/>
            <a:ext cx="10515600" cy="904572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7"/>
            <a:ext cx="11019020" cy="46805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 Problem Statement </a:t>
            </a:r>
            <a:endParaRPr lang="en-US" sz="2000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 System Architecture &amp; Technology Stack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 Database Schema &amp; API Design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Implementation &amp; Key Features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Deployment &amp; Live Demonstration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Results &amp; Code (Sample snippets)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 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481049"/>
            <a:ext cx="11029615" cy="4673324"/>
          </a:xfrm>
        </p:spPr>
        <p:txBody>
          <a:bodyPr>
            <a:normAutofit fontScale="77500" lnSpcReduction="20000"/>
          </a:bodyPr>
          <a:lstStyle/>
          <a:p>
            <a:pPr marL="305435" indent="-305435"/>
            <a:r>
              <a:rPr lang="en-US" sz="2800" dirty="0"/>
              <a:t>In today's digital era, fake news spreads rapidly through social media platforms, messaging apps, and online news portals, reaching millions of users within minutes.</a:t>
            </a:r>
          </a:p>
          <a:p>
            <a:r>
              <a:rPr lang="en-US" sz="2800" dirty="0"/>
              <a:t>Students and young adults consume large volumes of information daily without proper verification tools or fact-checking resources, making them vulnerable to misinformation.</a:t>
            </a:r>
          </a:p>
          <a:p>
            <a:r>
              <a:rPr lang="en-US" sz="2800" dirty="0"/>
              <a:t>Misinformation negatively impacts academic research quality, influences public opinion, and affects critical decision-making processes.</a:t>
            </a:r>
          </a:p>
          <a:p>
            <a:r>
              <a:rPr lang="en-US" sz="2800" dirty="0"/>
              <a:t>Currently, there is no accessible, fast, and reliable automated system that students can use to verify the authenticity of news articles.</a:t>
            </a:r>
          </a:p>
          <a:p>
            <a:r>
              <a:rPr lang="en-US" sz="2800" dirty="0"/>
              <a:t>Manual fact-checking is time-consuming, requires expertise, and cannot keep pace with the volume of content being shared.</a:t>
            </a:r>
          </a:p>
          <a:p>
            <a:r>
              <a:rPr lang="en-US" sz="2800" dirty="0"/>
              <a:t>Therefore, there is a strong need for an AI-powered platform that can quickly analyze news content and classify it as real or fake with high accuracy.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36655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 Architecture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B4F1C-CE72-7980-90BA-2C8FA3BFF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4760829" cy="4673324"/>
          </a:xfrm>
        </p:spPr>
        <p:txBody>
          <a:bodyPr/>
          <a:lstStyle/>
          <a:p>
            <a:r>
              <a:rPr lang="en-US" b="1" dirty="0"/>
              <a:t>Interaction Flow:</a:t>
            </a:r>
            <a:r>
              <a:rPr lang="en-US" dirty="0"/>
              <a:t> Client → Input news text through web interface Frontend → Sends text to backend via HTTP POST request Backend → Applies preprocessing to clean the text ML Model → Converts text to TF-IDF vectors and performs classification Backend → Returns prediction result (Real/Fake) to frontend Client → Displays result instantly to user</a:t>
            </a:r>
          </a:p>
          <a:p>
            <a:r>
              <a:rPr lang="en-US" b="1" dirty="0"/>
              <a:t>Architecture Components:</a:t>
            </a:r>
            <a:r>
              <a:rPr lang="en-US" dirty="0"/>
              <a:t> Frontend Layer: </a:t>
            </a:r>
            <a:r>
              <a:rPr lang="en-US" dirty="0" err="1"/>
              <a:t>Streamlit</a:t>
            </a:r>
            <a:r>
              <a:rPr lang="en-US" dirty="0"/>
              <a:t> web interface for user interaction Processing Layer: NLTK-based text preprocessing pipeline Model Layer: Trained Logistic Regression classifier Storage Layer: Pickle files storing trained model and vectorizer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2281-AC5C-8517-3B46-73C39F351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4557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cs typeface="Arial"/>
              </a:rPr>
              <a:t>Technology Stack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13EC4-48AF-F41D-81B0-F6DB81710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25" y="1714776"/>
            <a:ext cx="11029615" cy="3911324"/>
          </a:xfrm>
        </p:spPr>
        <p:txBody>
          <a:bodyPr>
            <a:normAutofit/>
          </a:bodyPr>
          <a:lstStyle/>
          <a:p>
            <a:r>
              <a:rPr lang="en-US" b="1" dirty="0"/>
              <a:t>Programming Language</a:t>
            </a:r>
            <a:r>
              <a:rPr lang="en-US" dirty="0"/>
              <a:t> Python 3.8+ (for all development work)</a:t>
            </a:r>
          </a:p>
          <a:p>
            <a:r>
              <a:rPr lang="en-US" b="1" dirty="0"/>
              <a:t>Machine Learning &amp; NLP</a:t>
            </a:r>
            <a:r>
              <a:rPr lang="en-US" dirty="0"/>
              <a:t> Scikit-learn: </a:t>
            </a:r>
            <a:r>
              <a:rPr lang="en-US" dirty="0" err="1"/>
              <a:t>LogisticRegression</a:t>
            </a:r>
            <a:r>
              <a:rPr lang="en-US" dirty="0"/>
              <a:t>, </a:t>
            </a:r>
            <a:r>
              <a:rPr lang="en-US" dirty="0" err="1"/>
              <a:t>TfidfVectorizer</a:t>
            </a:r>
            <a:r>
              <a:rPr lang="en-US" dirty="0"/>
              <a:t>, </a:t>
            </a:r>
            <a:r>
              <a:rPr lang="en-US" dirty="0" err="1"/>
              <a:t>train_test_split</a:t>
            </a:r>
            <a:r>
              <a:rPr lang="en-US" dirty="0"/>
              <a:t> NLTK: </a:t>
            </a:r>
            <a:r>
              <a:rPr lang="en-US" dirty="0" err="1"/>
              <a:t>Stopwords</a:t>
            </a:r>
            <a:r>
              <a:rPr lang="en-US" dirty="0"/>
              <a:t> removal, </a:t>
            </a:r>
            <a:r>
              <a:rPr lang="en-US" dirty="0" err="1"/>
              <a:t>WordNetLemmatizer</a:t>
            </a:r>
            <a:r>
              <a:rPr lang="en-US" dirty="0"/>
              <a:t>, tokenization</a:t>
            </a:r>
          </a:p>
          <a:p>
            <a:r>
              <a:rPr lang="en-US" b="1" dirty="0"/>
              <a:t>Data Processing</a:t>
            </a:r>
            <a:r>
              <a:rPr lang="en-US" dirty="0"/>
              <a:t> Pandas: Dataset loading and manipulation NumPy: Numerical computations and array operations</a:t>
            </a:r>
          </a:p>
          <a:p>
            <a:r>
              <a:rPr lang="en-US" b="1" dirty="0"/>
              <a:t>Web Application</a:t>
            </a:r>
            <a:r>
              <a:rPr lang="en-US" dirty="0"/>
              <a:t> </a:t>
            </a:r>
            <a:r>
              <a:rPr lang="en-US" dirty="0" err="1"/>
              <a:t>Streamlit</a:t>
            </a:r>
            <a:r>
              <a:rPr lang="en-US" dirty="0"/>
              <a:t>: Rapid web app development with built-in UI components</a:t>
            </a:r>
          </a:p>
          <a:p>
            <a:r>
              <a:rPr lang="en-US" b="1" dirty="0"/>
              <a:t>Model Persistence</a:t>
            </a:r>
            <a:r>
              <a:rPr lang="en-US" dirty="0"/>
              <a:t> Pickle: Saves trained model and vectorizer to disk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31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63FC0CD-F19B-4D9C-9C47-EB7E9D16E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608" y="819150"/>
            <a:ext cx="10993549" cy="46566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/>
              <a:t>Dataset Schema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11" y="1453298"/>
            <a:ext cx="10993546" cy="5255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 kern="1200" cap="all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Dataset structure</a:t>
            </a:r>
            <a:endParaRPr lang="en-US" sz="2400" kern="1200" cap="all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E70159E-5269-4C18-AA0B-D50513DB3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BE9C8C-98B2-41C2-B47B-9A396CBA2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ECCA3D-5ECA-4A8B-B9D7-CE6DEB72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D5010-701B-CE35-ACC4-0358637E9FD1}"/>
              </a:ext>
            </a:extLst>
          </p:cNvPr>
          <p:cNvSpPr txBox="1"/>
          <p:nvPr/>
        </p:nvSpPr>
        <p:spPr>
          <a:xfrm>
            <a:off x="7153429" y="1986187"/>
            <a:ext cx="295834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2CE817-D819-E25B-948B-F0EF6594D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887254"/>
              </p:ext>
            </p:extLst>
          </p:nvPr>
        </p:nvGraphicFramePr>
        <p:xfrm>
          <a:off x="443608" y="2232282"/>
          <a:ext cx="11029950" cy="2560320"/>
        </p:xfrm>
        <a:graphic>
          <a:graphicData uri="http://schemas.openxmlformats.org/drawingml/2006/table">
            <a:tbl>
              <a:tblPr/>
              <a:tblGrid>
                <a:gridCol w="3676650">
                  <a:extLst>
                    <a:ext uri="{9D8B030D-6E8A-4147-A177-3AD203B41FA5}">
                      <a16:colId xmlns:a16="http://schemas.microsoft.com/office/drawing/2014/main" val="1418062713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3743684831"/>
                    </a:ext>
                  </a:extLst>
                </a:gridCol>
                <a:gridCol w="3676650">
                  <a:extLst>
                    <a:ext uri="{9D8B030D-6E8A-4147-A177-3AD203B41FA5}">
                      <a16:colId xmlns:a16="http://schemas.microsoft.com/office/drawing/2014/main" val="969030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Field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124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Unique article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379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title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News article headline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7383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Complete article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0444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subject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 (politics, world news)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03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Publication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678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label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Integer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 = Real, 1 = Fake (target)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70081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B28865D3-0222-B682-4C5A-9D8692C74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608" y="4946585"/>
            <a:ext cx="9480884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Characteristics: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Total Articles: 20,000+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samples Real News: 50% (verified sources)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Fake News: 50% (misinformation sources)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Set: 80% (16,000 articles)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Set: 20% (4,000 articles)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C8C61-150B-525F-4B63-68B174910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6C89-BEC3-8853-C03E-259673F8F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4557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cs typeface="Arial"/>
              </a:rPr>
              <a:t>model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2F718-2695-E649-837D-B4AEBBA6E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25" y="1714776"/>
            <a:ext cx="11029615" cy="3911324"/>
          </a:xfrm>
        </p:spPr>
        <p:txBody>
          <a:bodyPr>
            <a:normAutofit/>
          </a:bodyPr>
          <a:lstStyle/>
          <a:p>
            <a:r>
              <a:rPr lang="en-US" b="1" dirty="0"/>
              <a:t>1. Text Preprocessing Pipeline</a:t>
            </a:r>
            <a:r>
              <a:rPr lang="en-US" dirty="0"/>
              <a:t> Lowercase conversion Punctuation and special character removal </a:t>
            </a:r>
            <a:r>
              <a:rPr lang="en-US" dirty="0" err="1"/>
              <a:t>Stopwords</a:t>
            </a:r>
            <a:r>
              <a:rPr lang="en-US" dirty="0"/>
              <a:t> removal using NLTK Lemmatization (reducing words to base form)</a:t>
            </a:r>
          </a:p>
          <a:p>
            <a:r>
              <a:rPr lang="en-US" b="1" dirty="0"/>
              <a:t>2. Feature Extraction - TF-IDF</a:t>
            </a:r>
            <a:r>
              <a:rPr lang="en-US" dirty="0"/>
              <a:t> Converts text into numerical vectors Assigns importance scores to words Max features: 5000 most important words Captures word frequency and uniqueness</a:t>
            </a:r>
          </a:p>
          <a:p>
            <a:r>
              <a:rPr lang="en-US" b="1" dirty="0"/>
              <a:t>3. Classification Algorithm</a:t>
            </a:r>
            <a:r>
              <a:rPr lang="en-US" dirty="0"/>
              <a:t> Logistic Regression for binary classification Fast training and prediction Effective for text classification tasks</a:t>
            </a:r>
          </a:p>
        </p:txBody>
      </p:sp>
    </p:spTree>
    <p:extLst>
      <p:ext uri="{BB962C8B-B14F-4D97-AF65-F5344CB8AC3E}">
        <p14:creationId xmlns:p14="http://schemas.microsoft.com/office/powerpoint/2010/main" val="955942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4C5BD-E0D2-226E-0F60-B7AF50EA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ED38081-155B-22E7-5D5B-82F55CA2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75" y="1009650"/>
            <a:ext cx="11502635" cy="7096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Implementation – Model development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A6A1192-1EAB-5386-AE90-25189086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52360"/>
            <a:ext cx="11029615" cy="3995991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/>
              <a:t>Data Loading &amp; Exploration:</a:t>
            </a:r>
            <a:r>
              <a:rPr lang="en-US" sz="2800" dirty="0"/>
              <a:t> Loaded dataset using Pandas Checked for missing values and duplicates Analyzed class distribution for balance Performed exploratory data analysis</a:t>
            </a:r>
          </a:p>
          <a:p>
            <a:r>
              <a:rPr lang="en-US" sz="2800" b="1" dirty="0"/>
              <a:t>Text Preprocessing:</a:t>
            </a:r>
            <a:r>
              <a:rPr lang="en-US" sz="2800" dirty="0"/>
              <a:t> Created preprocessing function to clean text Applied lowercase transformation Removed punctuation using regex patterns Filtered out </a:t>
            </a:r>
            <a:r>
              <a:rPr lang="en-US" sz="2800" dirty="0" err="1"/>
              <a:t>stopwords</a:t>
            </a:r>
            <a:r>
              <a:rPr lang="en-US" sz="2800" dirty="0"/>
              <a:t> from NLTK corpus Lemmatized words using </a:t>
            </a:r>
            <a:r>
              <a:rPr lang="en-US" sz="2800" dirty="0" err="1"/>
              <a:t>WordNetLemmatizer</a:t>
            </a:r>
            <a:endParaRPr lang="en-US" sz="2800" dirty="0"/>
          </a:p>
          <a:p>
            <a:r>
              <a:rPr lang="en-US" sz="2800" b="1" dirty="0"/>
              <a:t>Feature Engineering:</a:t>
            </a:r>
            <a:r>
              <a:rPr lang="en-US" sz="2800" dirty="0"/>
              <a:t> Initialized </a:t>
            </a:r>
            <a:r>
              <a:rPr lang="en-US" sz="2800" dirty="0" err="1"/>
              <a:t>TfidfVectorizer</a:t>
            </a:r>
            <a:r>
              <a:rPr lang="en-US" sz="2800" dirty="0"/>
              <a:t> with </a:t>
            </a:r>
            <a:r>
              <a:rPr lang="en-US" sz="2800" dirty="0" err="1"/>
              <a:t>max_features</a:t>
            </a:r>
            <a:r>
              <a:rPr lang="en-US" sz="2800" dirty="0"/>
              <a:t>=5000 Fitted vectorizer on training data Transformed text into numerical vectors</a:t>
            </a:r>
          </a:p>
        </p:txBody>
      </p:sp>
    </p:spTree>
    <p:extLst>
      <p:ext uri="{BB962C8B-B14F-4D97-AF65-F5344CB8AC3E}">
        <p14:creationId xmlns:p14="http://schemas.microsoft.com/office/powerpoint/2010/main" val="1174897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BD3C0-9809-F8B2-1D53-8C9F569C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4B195C-1F96-F599-8687-87B453A52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39739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Implementation – model training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D8604-B634-A9A6-1440-43FF0B599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66609"/>
            <a:ext cx="11029615" cy="4673324"/>
          </a:xfrm>
        </p:spPr>
        <p:txBody>
          <a:bodyPr>
            <a:normAutofit/>
          </a:bodyPr>
          <a:lstStyle/>
          <a:p>
            <a:r>
              <a:rPr lang="en-US" sz="2800" b="1" dirty="0"/>
              <a:t>Model Training:</a:t>
            </a:r>
            <a:r>
              <a:rPr lang="en-US" sz="2800" dirty="0"/>
              <a:t> Initialized Logistic Regression classifier Trained on TF-IDF transformed data Used solver='</a:t>
            </a:r>
            <a:r>
              <a:rPr lang="en-US" sz="2800" dirty="0" err="1"/>
              <a:t>liblinear</a:t>
            </a:r>
            <a:r>
              <a:rPr lang="en-US" sz="2800" dirty="0"/>
              <a:t>' for binary classification Set </a:t>
            </a:r>
            <a:r>
              <a:rPr lang="en-US" sz="2800" dirty="0" err="1"/>
              <a:t>max_iter</a:t>
            </a:r>
            <a:r>
              <a:rPr lang="en-US" sz="2800" dirty="0"/>
              <a:t>=1000 for convergence</a:t>
            </a:r>
          </a:p>
          <a:p>
            <a:r>
              <a:rPr lang="en-US" sz="2800" b="1" dirty="0"/>
              <a:t>Model Validation:</a:t>
            </a:r>
            <a:r>
              <a:rPr lang="en-US" sz="2800" dirty="0"/>
              <a:t> Evaluated on separate test dataset Generated confusion matrix for error analysis Calculated precision, recall, and F1-score Performed cross-validation for reliability</a:t>
            </a:r>
          </a:p>
          <a:p>
            <a:r>
              <a:rPr lang="en-US" sz="2800" b="1" dirty="0"/>
              <a:t>Model Saving:</a:t>
            </a:r>
            <a:r>
              <a:rPr lang="en-US" sz="2800" dirty="0"/>
              <a:t> Saved trained model as '</a:t>
            </a:r>
            <a:r>
              <a:rPr lang="en-US" sz="2800" dirty="0" err="1"/>
              <a:t>fake_news_model.pkl</a:t>
            </a:r>
            <a:r>
              <a:rPr lang="en-US" sz="2800" dirty="0"/>
              <a:t>' Saved TF-IDF vectorizer as '</a:t>
            </a:r>
            <a:r>
              <a:rPr lang="en-US" sz="2800" dirty="0" err="1"/>
              <a:t>tfidf_vectorizer.pkl</a:t>
            </a:r>
            <a:r>
              <a:rPr lang="en-US" sz="2800" dirty="0"/>
              <a:t>'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155043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3213D-3BD2-0F93-73AA-DAD1052F5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412795-F94E-FED1-49B9-BBACA5812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34989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Implementation – web application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BD1F5F-88F6-E184-604F-843EAC9B1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4775"/>
            <a:ext cx="11029615" cy="3286908"/>
          </a:xfrm>
        </p:spPr>
        <p:txBody>
          <a:bodyPr>
            <a:normAutofit fontScale="55000" lnSpcReduction="20000"/>
          </a:bodyPr>
          <a:lstStyle/>
          <a:p>
            <a:r>
              <a:rPr lang="en-US" sz="2800" b="1" dirty="0"/>
              <a:t>Frontend Design (</a:t>
            </a:r>
            <a:r>
              <a:rPr lang="en-US" sz="2800" b="1" dirty="0" err="1"/>
              <a:t>Streamlit</a:t>
            </a:r>
            <a:r>
              <a:rPr lang="en-US" sz="2800" b="1" dirty="0"/>
              <a:t>):</a:t>
            </a:r>
            <a:r>
              <a:rPr lang="en-US" sz="2800" dirty="0"/>
              <a:t> Created clean interface with header and text area Implemented large text input for news articles Added "Predict" button with custom styling Displayed results with colored messages</a:t>
            </a:r>
          </a:p>
          <a:p>
            <a:r>
              <a:rPr lang="en-US" sz="2800" b="1" dirty="0"/>
              <a:t>Backend Integration:</a:t>
            </a:r>
            <a:r>
              <a:rPr lang="en-US" sz="2800" dirty="0"/>
              <a:t> Loaded pre-trained model and vectorizer on startup Created prediction function that:</a:t>
            </a:r>
          </a:p>
          <a:p>
            <a:r>
              <a:rPr lang="en-US" sz="2800" dirty="0"/>
              <a:t>Accepts user input text</a:t>
            </a:r>
          </a:p>
          <a:p>
            <a:r>
              <a:rPr lang="en-US" sz="2800" dirty="0"/>
              <a:t>Applies preprocessing</a:t>
            </a:r>
          </a:p>
          <a:p>
            <a:r>
              <a:rPr lang="en-US" sz="2800" dirty="0"/>
              <a:t>Transforms using vectorizer</a:t>
            </a:r>
          </a:p>
          <a:p>
            <a:r>
              <a:rPr lang="en-US" sz="2800" dirty="0"/>
              <a:t>Makes prediction using model</a:t>
            </a:r>
          </a:p>
          <a:p>
            <a:r>
              <a:rPr lang="en-US" sz="2800" dirty="0"/>
              <a:t>Returns "Real News" or "Fake News"</a:t>
            </a:r>
          </a:p>
          <a:p>
            <a:r>
              <a:rPr lang="en-US" sz="2800" b="1" dirty="0"/>
              <a:t>User Experience Features:</a:t>
            </a:r>
            <a:r>
              <a:rPr lang="en-US" sz="2800" dirty="0"/>
              <a:t> Real-time prediction (2-3 seconds) Clear visual feedback with color coding Input validation for empty submissions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465245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A4C38-33BE-0E4B-1652-858691BC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B0971D-A4E4-9C23-7094-9649C219B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6565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Key Features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9097EF-F0F7-CE9E-17AE-5C249B9101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56026"/>
            <a:ext cx="11029615" cy="4652157"/>
          </a:xfrm>
        </p:spPr>
        <p:txBody>
          <a:bodyPr>
            <a:normAutofit/>
          </a:bodyPr>
          <a:lstStyle/>
          <a:p>
            <a:r>
              <a:rPr lang="en-US" sz="2800" b="1" dirty="0"/>
              <a:t>System Capabilities:</a:t>
            </a:r>
            <a:r>
              <a:rPr lang="en-US" sz="2800" dirty="0"/>
              <a:t> Real-time news article classification Accurate prediction with 92%+ accuracy Fast processing (under 3 seconds per article) Simple and intuitive user interface No technical knowledge required Handles articles up to 5000 words</a:t>
            </a:r>
          </a:p>
          <a:p>
            <a:r>
              <a:rPr lang="en-US" sz="2800" b="1" dirty="0"/>
              <a:t>Technical Features:</a:t>
            </a:r>
            <a:r>
              <a:rPr lang="en-US" sz="2800" dirty="0"/>
              <a:t> Robust text preprocessing pipeline TF-IDF based feature extraction Logistic Regression classification Pre-trained model for instant predictions Cross-platform web accessibility</a:t>
            </a:r>
          </a:p>
          <a:p>
            <a:pPr marL="305435" indent="-305435">
              <a:buNone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0549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A560-E1A2-FF82-31EC-927D4739B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50F28E-8F8E-F728-E20C-F821DA439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5507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Implementation &amp; Key Features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AB7C25-B16F-9965-5EBF-73CCDCDB7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4777"/>
            <a:ext cx="11029615" cy="4906157"/>
          </a:xfrm>
        </p:spPr>
        <p:txBody>
          <a:bodyPr>
            <a:normAutofit fontScale="92500" lnSpcReduction="10000"/>
          </a:bodyPr>
          <a:lstStyle/>
          <a:p>
            <a:pPr marL="305435" indent="-305435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Item Management (CRUD Operations):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Create Item:</a:t>
            </a:r>
            <a:r>
              <a:rPr lang="en-US" sz="2100" dirty="0">
                <a:ea typeface="+mn-lt"/>
                <a:cs typeface="+mn-lt"/>
              </a:rPr>
              <a:t> Added </a:t>
            </a:r>
            <a:r>
              <a:rPr lang="en-US" sz="2100" dirty="0" err="1">
                <a:latin typeface="Consolas"/>
              </a:rPr>
              <a:t>multer</a:t>
            </a:r>
            <a:r>
              <a:rPr lang="en-US" sz="2100" dirty="0">
                <a:ea typeface="+mn-lt"/>
                <a:cs typeface="+mn-lt"/>
              </a:rPr>
              <a:t> middleware for image upload. Images are stored in </a:t>
            </a:r>
            <a:r>
              <a:rPr lang="en-US" sz="2100" dirty="0">
                <a:latin typeface="Consolas"/>
              </a:rPr>
              <a:t>/uploads</a:t>
            </a:r>
            <a:r>
              <a:rPr lang="en-US" sz="2100" dirty="0">
                <a:ea typeface="+mn-lt"/>
                <a:cs typeface="+mn-lt"/>
              </a:rPr>
              <a:t> and their paths saved in MongoDB.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Read Items:</a:t>
            </a:r>
            <a:r>
              <a:rPr lang="en-US" sz="2100" dirty="0">
                <a:ea typeface="+mn-lt"/>
                <a:cs typeface="+mn-lt"/>
              </a:rPr>
              <a:t> Created API to fetch all items and search/filter based on category.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Claim Item:</a:t>
            </a:r>
            <a:r>
              <a:rPr lang="en-US" sz="2100" dirty="0">
                <a:ea typeface="+mn-lt"/>
                <a:cs typeface="+mn-lt"/>
              </a:rPr>
              <a:t> Added a feature where a user can claim an item.</a:t>
            </a:r>
            <a:endParaRPr lang="en-US" dirty="0"/>
          </a:p>
          <a:p>
            <a:pPr marL="305435" indent="-305435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API Routes: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dirty="0">
                <a:latin typeface="Consolas"/>
              </a:rPr>
              <a:t>/</a:t>
            </a:r>
            <a:r>
              <a:rPr lang="en-US" sz="2100" dirty="0" err="1">
                <a:latin typeface="Consolas"/>
              </a:rPr>
              <a:t>api</a:t>
            </a:r>
            <a:r>
              <a:rPr lang="en-US" sz="2100" dirty="0">
                <a:latin typeface="Consolas"/>
              </a:rPr>
              <a:t>/auth/register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dirty="0">
                <a:latin typeface="Consolas"/>
              </a:rPr>
              <a:t>/</a:t>
            </a:r>
            <a:r>
              <a:rPr lang="en-US" sz="2100" dirty="0" err="1">
                <a:latin typeface="Consolas"/>
              </a:rPr>
              <a:t>api</a:t>
            </a:r>
            <a:r>
              <a:rPr lang="en-US" sz="2100" dirty="0">
                <a:latin typeface="Consolas"/>
              </a:rPr>
              <a:t>/auth/login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dirty="0">
                <a:latin typeface="Consolas"/>
              </a:rPr>
              <a:t>/</a:t>
            </a:r>
            <a:r>
              <a:rPr lang="en-US" sz="2100" dirty="0" err="1">
                <a:latin typeface="Consolas"/>
              </a:rPr>
              <a:t>api</a:t>
            </a:r>
            <a:r>
              <a:rPr lang="en-US" sz="2100" dirty="0">
                <a:latin typeface="Consolas"/>
              </a:rPr>
              <a:t>/items</a:t>
            </a:r>
            <a:r>
              <a:rPr lang="en-US" sz="2100" dirty="0">
                <a:ea typeface="+mn-lt"/>
                <a:cs typeface="+mn-lt"/>
              </a:rPr>
              <a:t> (GET/POST)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dirty="0">
                <a:latin typeface="Consolas"/>
              </a:rPr>
              <a:t>/</a:t>
            </a:r>
            <a:r>
              <a:rPr lang="en-US" sz="2100" dirty="0" err="1">
                <a:latin typeface="Consolas"/>
              </a:rPr>
              <a:t>api</a:t>
            </a:r>
            <a:r>
              <a:rPr lang="en-US" sz="2100" dirty="0">
                <a:latin typeface="Consolas"/>
              </a:rPr>
              <a:t>/items/:id</a:t>
            </a:r>
            <a:r>
              <a:rPr lang="en-US" sz="2100" dirty="0">
                <a:ea typeface="+mn-lt"/>
                <a:cs typeface="+mn-lt"/>
              </a:rPr>
              <a:t> (GET)</a:t>
            </a:r>
            <a:endParaRPr lang="en-US" dirty="0"/>
          </a:p>
          <a:p>
            <a:pPr marL="305435" indent="-305435">
              <a:buFont typeface="Wingdings 2"/>
              <a:buChar char=""/>
            </a:pPr>
            <a:r>
              <a:rPr lang="en-US" sz="2100" b="1" dirty="0">
                <a:ea typeface="+mn-lt"/>
                <a:cs typeface="+mn-lt"/>
              </a:rPr>
              <a:t>Database Schema:</a:t>
            </a:r>
            <a:endParaRPr lang="en-US" dirty="0"/>
          </a:p>
          <a:p>
            <a:pPr marL="915670" lvl="1" indent="-285750">
              <a:buFont typeface="Wingdings 2"/>
              <a:buChar char=""/>
            </a:pPr>
            <a:r>
              <a:rPr lang="en-US" sz="2100" dirty="0">
                <a:ea typeface="+mn-lt"/>
                <a:cs typeface="+mn-lt"/>
              </a:rPr>
              <a:t>Created </a:t>
            </a:r>
            <a:r>
              <a:rPr lang="en-US" sz="2100" dirty="0">
                <a:latin typeface="Consolas"/>
              </a:rPr>
              <a:t>User</a:t>
            </a:r>
            <a:r>
              <a:rPr lang="en-US" sz="2100" dirty="0">
                <a:ea typeface="+mn-lt"/>
                <a:cs typeface="+mn-lt"/>
              </a:rPr>
              <a:t> and </a:t>
            </a:r>
            <a:r>
              <a:rPr lang="en-US" sz="2100" dirty="0">
                <a:latin typeface="Consolas"/>
              </a:rPr>
              <a:t>Item</a:t>
            </a:r>
            <a:r>
              <a:rPr lang="en-US" sz="2100" dirty="0">
                <a:ea typeface="+mn-lt"/>
                <a:cs typeface="+mn-lt"/>
              </a:rPr>
              <a:t> models in MongoDB using Mongoose.</a:t>
            </a:r>
            <a:endParaRPr lang="en-US" dirty="0"/>
          </a:p>
          <a:p>
            <a:pPr marL="0" indent="0">
              <a:buNone/>
            </a:pPr>
            <a:endParaRPr lang="en-US" sz="2100" b="1" dirty="0"/>
          </a:p>
          <a:p>
            <a:pPr marL="305435" indent="-305435">
              <a:buNone/>
            </a:pP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3846726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3023-2EE8-DCD9-811D-D595B25AC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AA7BFB-0C77-72AA-7D05-FA765AE31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913823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Implementation &amp; Key Features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8CFAFF-F84A-1500-8566-A54AD4190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91" y="1714777"/>
            <a:ext cx="10024199" cy="31916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i="1" u="sng" dirty="0"/>
              <a:t>Integration</a:t>
            </a:r>
          </a:p>
          <a:p>
            <a:pPr marL="305435" indent="-305435">
              <a:buFont typeface="Wingdings 2"/>
              <a:buChar char=""/>
            </a:pPr>
            <a:r>
              <a:rPr lang="en-US" sz="2000" dirty="0">
                <a:ea typeface="+mn-lt"/>
                <a:cs typeface="+mn-lt"/>
              </a:rPr>
              <a:t>Connected frontend forms to backend APIs using </a:t>
            </a:r>
            <a:r>
              <a:rPr lang="en-US" sz="2000" b="1" dirty="0">
                <a:ea typeface="+mn-lt"/>
                <a:cs typeface="+mn-lt"/>
              </a:rPr>
              <a:t>Fetch API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pPr marL="305435" indent="-305435">
              <a:buFont typeface="Wingdings 2"/>
              <a:buChar char=""/>
            </a:pPr>
            <a:r>
              <a:rPr lang="en-US" sz="2000" dirty="0">
                <a:ea typeface="+mn-lt"/>
                <a:cs typeface="+mn-lt"/>
              </a:rPr>
              <a:t>Implemented JWT storage in </a:t>
            </a:r>
            <a:r>
              <a:rPr lang="en-US" sz="2000" dirty="0" err="1">
                <a:latin typeface="Consolas"/>
              </a:rPr>
              <a:t>localStorage</a:t>
            </a:r>
            <a:r>
              <a:rPr lang="en-US" sz="2000" dirty="0">
                <a:ea typeface="+mn-lt"/>
                <a:cs typeface="+mn-lt"/>
              </a:rPr>
              <a:t> for persistent user sessions.</a:t>
            </a:r>
            <a:endParaRPr lang="en-US" sz="2000"/>
          </a:p>
          <a:p>
            <a:pPr marL="305435" indent="-305435">
              <a:buFont typeface="Wingdings 2"/>
              <a:buChar char=""/>
            </a:pPr>
            <a:r>
              <a:rPr lang="en-US" sz="2000" dirty="0">
                <a:ea typeface="+mn-lt"/>
                <a:cs typeface="+mn-lt"/>
              </a:rPr>
              <a:t>Added image rendering in the browse items page using the URLs returned from the backend.</a:t>
            </a:r>
            <a:endParaRPr lang="en-US" sz="2000"/>
          </a:p>
          <a:p>
            <a:pPr marL="305435" indent="-305435">
              <a:buFont typeface="Wingdings 2"/>
              <a:buChar char=""/>
            </a:pPr>
            <a:r>
              <a:rPr lang="en-US" sz="2000" dirty="0">
                <a:ea typeface="+mn-lt"/>
                <a:cs typeface="+mn-lt"/>
              </a:rPr>
              <a:t>Tested all features using </a:t>
            </a:r>
            <a:r>
              <a:rPr lang="en-US" sz="2000" b="1" dirty="0">
                <a:ea typeface="+mn-lt"/>
                <a:cs typeface="+mn-lt"/>
              </a:rPr>
              <a:t>Postman</a:t>
            </a:r>
            <a:r>
              <a:rPr lang="en-US" sz="2000" dirty="0">
                <a:ea typeface="+mn-lt"/>
                <a:cs typeface="+mn-lt"/>
              </a:rPr>
              <a:t> and </a:t>
            </a:r>
            <a:r>
              <a:rPr lang="en-US" sz="2000" b="1" dirty="0">
                <a:ea typeface="+mn-lt"/>
                <a:cs typeface="+mn-lt"/>
              </a:rPr>
              <a:t>browser testing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/>
          </a:p>
          <a:p>
            <a:pPr marL="305435" indent="-305435">
              <a:buFont typeface="Wingdings 2"/>
              <a:buChar char=""/>
            </a:pPr>
            <a:endParaRPr lang="en-US" sz="2100" b="1" dirty="0"/>
          </a:p>
        </p:txBody>
      </p:sp>
    </p:spTree>
    <p:extLst>
      <p:ext uri="{BB962C8B-B14F-4D97-AF65-F5344CB8AC3E}">
        <p14:creationId xmlns:p14="http://schemas.microsoft.com/office/powerpoint/2010/main" val="29769869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AB91-421A-4E47-8DE9-D41FC4CCC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0DC5BD-E57C-A7C8-8A47-DED88D2A8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Deployment &amp; Live Demonstration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251EDD-D260-B031-F1B5-80615D476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33776"/>
            <a:ext cx="11029615" cy="4641574"/>
          </a:xfrm>
        </p:spPr>
        <p:txBody>
          <a:bodyPr>
            <a:normAutofit/>
          </a:bodyPr>
          <a:lstStyle/>
          <a:p>
            <a:r>
              <a:rPr lang="en-US" sz="2400" b="1" dirty="0"/>
              <a:t>Platform Used:</a:t>
            </a:r>
            <a:r>
              <a:rPr lang="en-US" sz="2400" dirty="0"/>
              <a:t> </a:t>
            </a:r>
            <a:r>
              <a:rPr lang="en-US" sz="2400" dirty="0" err="1"/>
              <a:t>Streamlit</a:t>
            </a:r>
            <a:r>
              <a:rPr lang="en-US" sz="2400" dirty="0"/>
              <a:t> Cloud / Local Deployment</a:t>
            </a:r>
          </a:p>
          <a:p>
            <a:r>
              <a:rPr lang="en-US" sz="2400" b="1" dirty="0"/>
              <a:t>Local Deployment Process:</a:t>
            </a:r>
            <a:r>
              <a:rPr lang="en-US" sz="2400" dirty="0"/>
              <a:t> Installed dependencies: </a:t>
            </a:r>
            <a:r>
              <a:rPr lang="en-US" dirty="0"/>
              <a:t>pip install -r requirements.txt</a:t>
            </a:r>
            <a:r>
              <a:rPr lang="en-US" sz="2400" dirty="0"/>
              <a:t> Ensured model files (.</a:t>
            </a:r>
            <a:r>
              <a:rPr lang="en-US" sz="2400" dirty="0" err="1"/>
              <a:t>pkl</a:t>
            </a:r>
            <a:r>
              <a:rPr lang="en-US" sz="2400" dirty="0"/>
              <a:t>) in correct directory Run command: </a:t>
            </a:r>
            <a:r>
              <a:rPr lang="en-US" dirty="0" err="1"/>
              <a:t>streamlit</a:t>
            </a:r>
            <a:r>
              <a:rPr lang="en-US" dirty="0"/>
              <a:t> run streamlit_app.py</a:t>
            </a:r>
            <a:r>
              <a:rPr lang="en-US" sz="2400" dirty="0"/>
              <a:t> Application opens at localhost:8501</a:t>
            </a:r>
          </a:p>
          <a:p>
            <a:r>
              <a:rPr lang="en-US" sz="2400" b="1" dirty="0"/>
              <a:t>Cloud Deployment (</a:t>
            </a:r>
            <a:r>
              <a:rPr lang="en-US" sz="2400" b="1" dirty="0" err="1"/>
              <a:t>Streamlit</a:t>
            </a:r>
            <a:r>
              <a:rPr lang="en-US" sz="2400" b="1" dirty="0"/>
              <a:t> Cloud):</a:t>
            </a:r>
            <a:r>
              <a:rPr lang="en-US" sz="2400" dirty="0"/>
              <a:t> Connected GitHub repository Added requirements.txt with all dependencies Configured Python version (3.8+) Uploaded model files to repository Deployed with one-click deployment</a:t>
            </a:r>
          </a:p>
          <a:p>
            <a:r>
              <a:rPr lang="en-US" sz="2400" b="1" dirty="0"/>
              <a:t>Application Features:</a:t>
            </a:r>
            <a:r>
              <a:rPr lang="en-US" sz="2400" dirty="0"/>
              <a:t> Accessible from any device No installation required for users Instant predictions with real-time processing</a:t>
            </a:r>
          </a:p>
        </p:txBody>
      </p:sp>
    </p:spTree>
    <p:extLst>
      <p:ext uri="{BB962C8B-B14F-4D97-AF65-F5344CB8AC3E}">
        <p14:creationId xmlns:p14="http://schemas.microsoft.com/office/powerpoint/2010/main" val="3838058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025" y="73390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Results &amp; Performance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4594E-3B1B-6A34-3854-6CFBD80594FC}"/>
              </a:ext>
            </a:extLst>
          </p:cNvPr>
          <p:cNvSpPr txBox="1"/>
          <p:nvPr/>
        </p:nvSpPr>
        <p:spPr>
          <a:xfrm>
            <a:off x="4537131" y="1376390"/>
            <a:ext cx="501777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hlinkClick r:id="rId2"/>
              </a:rPr>
              <a:t>https://github.com/himakshi-08/EcoCart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1ACDFA-1A40-D8DD-C6B9-8C8156A67CE3}"/>
              </a:ext>
            </a:extLst>
          </p:cNvPr>
          <p:cNvSpPr txBox="1"/>
          <p:nvPr/>
        </p:nvSpPr>
        <p:spPr>
          <a:xfrm>
            <a:off x="1786992" y="1374503"/>
            <a:ext cx="27571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/>
              <a:t>Github</a:t>
            </a:r>
            <a:r>
              <a:rPr lang="en-US" b="1" dirty="0"/>
              <a:t> Repository Link: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88B1F-C3B0-682F-2592-AB88206BD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Performance:</a:t>
            </a:r>
            <a:r>
              <a:rPr lang="en-US" dirty="0"/>
              <a:t> Overall Accuracy: 92.5% on test dataset Precision (Fake News): 91.8% Recall (Fake News): 93.2% F1-Score: 92.5%</a:t>
            </a:r>
          </a:p>
          <a:p>
            <a:r>
              <a:rPr lang="en-US" b="1" dirty="0"/>
              <a:t>Confusion Matrix:</a:t>
            </a:r>
            <a:r>
              <a:rPr lang="en-US" dirty="0"/>
              <a:t> True Positives: 3,728 (correct fake detection) True Negatives: 3,672 (correct real detection) False Positives: 328 (real marked as fake) False Negatives: 272 (fake marked as real)</a:t>
            </a:r>
          </a:p>
          <a:p>
            <a:r>
              <a:rPr lang="en-US" b="1" dirty="0"/>
              <a:t>System Performance:</a:t>
            </a:r>
            <a:r>
              <a:rPr lang="en-US" dirty="0"/>
              <a:t> Average prediction time: 2.1 seconds Text preprocessing: 0.8 seconds Model inference: 1.3 seconds Handles various article lengths effectively</a:t>
            </a: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D82F-919F-E25E-F55A-DDBE131A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BA612A-EA03-A0FA-818C-A57AC9B43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Results and code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C15CCC0-5326-5A44-3E80-948003124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CODE SAMPLE – Preprocessing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904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938419-7A29-8B99-E969-6B50FBA1E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2D4960A-896E-4F6B-BF65-B4662AC9D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86F3EBA-FFBD-5FDB-7151-C515FC63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723" y="850791"/>
            <a:ext cx="3202016" cy="41982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Results and code</a:t>
            </a:r>
          </a:p>
        </p:txBody>
      </p:sp>
      <p:pic>
        <p:nvPicPr>
          <p:cNvPr id="4" name="Picture 3" descr="A screenshot of a website">
            <a:extLst>
              <a:ext uri="{FF2B5EF4-FFF2-40B4-BE49-F238E27FC236}">
                <a16:creationId xmlns:a16="http://schemas.microsoft.com/office/drawing/2014/main" id="{56205B02-26BA-8F57-0B59-2FD68C829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205" y="0"/>
            <a:ext cx="9587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75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86EA6-0AC1-42C5-6977-7B8069CB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F9D8A23-55E8-6308-7CF7-D6F8B64A4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B734DD-E579-C4B2-4909-0121E49F6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D0DAB1-29A7-D547-EDE9-583C06CAA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0DD95DC-4F3D-B334-0A13-F02FEAECB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0AA8AF7-9A33-7998-ABF6-A200DE06F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810239-B4ED-738C-1571-36F1FE5A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2723" y="850791"/>
            <a:ext cx="3202016" cy="41982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Results and code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21DE82A-9D6C-F34A-9AEF-35ED5311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690" y="0"/>
            <a:ext cx="96882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0092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b="1" dirty="0"/>
              <a:t>Project Achievements:</a:t>
            </a:r>
            <a:r>
              <a:rPr lang="en-US" sz="2800" dirty="0"/>
              <a:t> Successfully developed AI-powered fake news detection system Achieved 92.5% accuracy on test dataset Created user-friendly web application accessible to all Implemented robust preprocessing pipeline Deployed as real-time web application Provided practical tool for students and researchers</a:t>
            </a:r>
          </a:p>
          <a:p>
            <a:r>
              <a:rPr lang="en-US" sz="2800" b="1" dirty="0"/>
              <a:t>Challenges and Solutions:</a:t>
            </a:r>
            <a:r>
              <a:rPr lang="en-US" sz="2800" dirty="0"/>
              <a:t> Challenge: Diverse writing styles → Solution: Comprehensive preprocessing Challenge: Balanced accuracy → Solution: Used balanced dataset Challenge: Fast predictions → Solution: Optimized Logistic Regression Challenge: User-friendly interface → Solution: </a:t>
            </a:r>
            <a:r>
              <a:rPr lang="en-US" sz="2800" dirty="0" err="1"/>
              <a:t>Streamlit</a:t>
            </a:r>
            <a:r>
              <a:rPr lang="en-US" sz="2800" dirty="0"/>
              <a:t> framework</a:t>
            </a:r>
          </a:p>
          <a:p>
            <a:pPr marL="305435" indent="-305435"/>
            <a:endParaRPr lang="en-US" sz="2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2C4CA-56B6-5E42-594F-6AF477B8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273E693-EE9F-3739-7569-428AA1B6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234" y="945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limitations &amp; future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37A2D-0CC4-604B-7875-6C91F16BE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41110"/>
            <a:ext cx="11029615" cy="5234240"/>
          </a:xfrm>
        </p:spPr>
        <p:txBody>
          <a:bodyPr/>
          <a:lstStyle/>
          <a:p>
            <a:r>
              <a:rPr lang="en-US" b="1" dirty="0"/>
              <a:t>Current Limitations:</a:t>
            </a:r>
            <a:r>
              <a:rPr lang="en-US" dirty="0"/>
              <a:t> Language support limited to English only Cannot verify images or video content Requires internet for cloud deployment Model depends on training data quality No source credibility analysis included</a:t>
            </a:r>
          </a:p>
          <a:p>
            <a:r>
              <a:rPr lang="en-US" b="1" dirty="0"/>
              <a:t>Future Enhancements:</a:t>
            </a:r>
            <a:r>
              <a:rPr lang="en-US" dirty="0"/>
              <a:t> Multi-language support (Hindi, Telugu, Tamil) Deep Learning models (LSTM, BERT) Confidence score display with percentages Real-time fact-checking API integration Image and video verification features Browser extension development Mobile application for Android/iOS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4951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Scikit-learn Documentation – </a:t>
            </a:r>
            <a:r>
              <a:rPr lang="en-US" sz="2800" dirty="0">
                <a:hlinkClick r:id="rId2"/>
              </a:rPr>
              <a:t>https://scikit-learn.org/stable/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NLTK Documentation – </a:t>
            </a:r>
            <a:r>
              <a:rPr lang="en-US" sz="2800" dirty="0">
                <a:hlinkClick r:id="rId3"/>
              </a:rPr>
              <a:t>https://www.nltk.org/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 err="1"/>
              <a:t>Streamlit</a:t>
            </a:r>
            <a:r>
              <a:rPr lang="en-US" sz="2800" dirty="0"/>
              <a:t> Documentation – </a:t>
            </a:r>
            <a:r>
              <a:rPr lang="en-US" sz="2800" dirty="0">
                <a:hlinkClick r:id="rId4"/>
              </a:rPr>
              <a:t>https://docs.streamlit.io/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Kaggle Fake News Dataset – </a:t>
            </a:r>
            <a:r>
              <a:rPr lang="en-US" sz="2800" dirty="0">
                <a:hlinkClick r:id="rId5"/>
              </a:rPr>
              <a:t>https://www.kaggle.com/</a:t>
            </a:r>
            <a:r>
              <a:rPr lang="en-US" sz="2800" dirty="0"/>
              <a:t> </a:t>
            </a:r>
          </a:p>
          <a:p>
            <a:pPr marL="0" indent="0">
              <a:buNone/>
            </a:pPr>
            <a:r>
              <a:rPr lang="en-US" sz="2800" dirty="0"/>
              <a:t>Python Official Documentation – </a:t>
            </a:r>
            <a:r>
              <a:rPr lang="en-US" sz="2800" dirty="0">
                <a:hlinkClick r:id="rId6"/>
              </a:rPr>
              <a:t>https://docs.python.org/3/</a:t>
            </a:r>
            <a:r>
              <a:rPr lang="en-US" sz="2800" dirty="0"/>
              <a:t> Research Papers – IEEE Xplore, Google Scholar</a:t>
            </a:r>
            <a:endParaRPr lang="en-US" sz="2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CB5A5-86A0-E3A1-4A89-F28FB461F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175CD8-F5A9-B764-9041-5C5BAED0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3429000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7548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www.w3.org/XML/1998/namespace"/>
    <ds:schemaRef ds:uri="http://purl.org/dc/elements/1.1/"/>
    <ds:schemaRef ds:uri="9162bd5b-4ed9-4da3-b376-05204580ba3f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c0fa2617-96bd-425d-8578-e93563fe37c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119</TotalTime>
  <Words>1491</Words>
  <Application>Microsoft Office PowerPoint</Application>
  <PresentationFormat>Widescreen</PresentationFormat>
  <Paragraphs>138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Consolas</vt:lpstr>
      <vt:lpstr>Franklin Gothic Book</vt:lpstr>
      <vt:lpstr>Franklin Gothic Demi</vt:lpstr>
      <vt:lpstr>Gill Sans MT</vt:lpstr>
      <vt:lpstr>Wingdings 2</vt:lpstr>
      <vt:lpstr>DividendVTI</vt:lpstr>
      <vt:lpstr>Fake news detector for students</vt:lpstr>
      <vt:lpstr>OUTLINE</vt:lpstr>
      <vt:lpstr>Problem Statement</vt:lpstr>
      <vt:lpstr>System Architecture</vt:lpstr>
      <vt:lpstr>Technology Stack</vt:lpstr>
      <vt:lpstr>Dataset Schema </vt:lpstr>
      <vt:lpstr>model Design</vt:lpstr>
      <vt:lpstr>Implementation – Model development</vt:lpstr>
      <vt:lpstr>Implementation – model training</vt:lpstr>
      <vt:lpstr>Implementation – web application</vt:lpstr>
      <vt:lpstr>Key Features</vt:lpstr>
      <vt:lpstr>Implementation &amp; Key Features</vt:lpstr>
      <vt:lpstr>Implementation &amp; Key Features</vt:lpstr>
      <vt:lpstr>Deployment &amp; Live Demonstration</vt:lpstr>
      <vt:lpstr>Results &amp; Performance</vt:lpstr>
      <vt:lpstr>Results and code</vt:lpstr>
      <vt:lpstr>Results and code</vt:lpstr>
      <vt:lpstr>Results and code</vt:lpstr>
      <vt:lpstr>Conclusion</vt:lpstr>
      <vt:lpstr>limitations &amp; 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durga sravanthi</cp:lastModifiedBy>
  <cp:revision>580</cp:revision>
  <cp:lastPrinted>2026-01-16T06:48:10Z</cp:lastPrinted>
  <dcterms:created xsi:type="dcterms:W3CDTF">2021-05-26T16:50:10Z</dcterms:created>
  <dcterms:modified xsi:type="dcterms:W3CDTF">2026-01-16T07:10:32Z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